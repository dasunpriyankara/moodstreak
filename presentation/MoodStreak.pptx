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7" r:id="rId12"/>
    <p:sldId id="265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978"/>
    <p:restoredTop sz="94610"/>
  </p:normalViewPr>
  <p:slideViewPr>
    <p:cSldViewPr snapToGrid="0" snapToObjects="1">
      <p:cViewPr varScale="1">
        <p:scale>
          <a:sx n="170" d="100"/>
          <a:sy n="170" d="100"/>
        </p:scale>
        <p:origin x="67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954196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16CD03-CDF8-B896-4DCC-3C7FF7CF8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190565-EEE2-9BE1-7B4E-9BAEC92FC2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DAABED-1436-B890-965E-16DB92BB2C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EB5EB6-F824-EBF6-11B2-EB6E5FB6D95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203264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99FBB-0EA0-5656-E200-BE21684D04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240E0A-EBC1-070A-0521-796B73A9D5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A1840D-A1CE-C838-A911-0C01765F6F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D21769-797B-1F71-A79A-E99168AA03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420642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6C4C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🔥 MoodStreak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548640" y="21945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E6D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habits. Understand your mood.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310896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Apps – Assignment 2 · Full-stack hybrid app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Team: Dasun Priyankara Alagiya Durage (12273809)</a:t>
            </a:r>
            <a:endParaRPr lang="en-US" sz="1400" dirty="0"/>
          </a:p>
        </p:txBody>
      </p:sp>
      <p:pic>
        <p:nvPicPr>
          <p:cNvPr id="5" name="Image 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488750" y="548640"/>
            <a:ext cx="1769986" cy="3840480"/>
          </a:xfrm>
          <a:prstGeom prst="rect">
            <a:avLst/>
          </a:prstGeom>
        </p:spPr>
      </p:pic>
      <p:pic>
        <p:nvPicPr>
          <p:cNvPr id="6" name="Image 1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180390" y="914400"/>
            <a:ext cx="1769986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6C4CF1"/>
          </a:solidFill>
          <a:ln w="12700">
            <a:solidFill>
              <a:srgbClr val="6C4C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MoodStreak?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it is for and why they would use it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3931920" cy="3291840"/>
          </a:xfrm>
          <a:prstGeom prst="roundRect">
            <a:avLst>
              <a:gd name="adj" fmla="val 3333"/>
            </a:avLst>
          </a:prstGeom>
          <a:solidFill>
            <a:srgbClr val="F4F5FB"/>
          </a:solidFill>
          <a:ln w="12700">
            <a:solidFill>
              <a:srgbClr val="F4F5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754880" y="1325880"/>
            <a:ext cx="3931920" cy="3291840"/>
          </a:xfrm>
          <a:prstGeom prst="roundRect">
            <a:avLst>
              <a:gd name="adj" fmla="val 3333"/>
            </a:avLst>
          </a:prstGeom>
          <a:solidFill>
            <a:srgbClr val="F4F5FB"/>
          </a:solidFill>
          <a:ln w="12700">
            <a:solidFill>
              <a:srgbClr val="F4F5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417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C4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audience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" y="1828800"/>
            <a:ext cx="3566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and young professionals (18–35) juggling study, work and wellbeing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building routines (sleep, exercise, reading) who also want to understand how they feel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who finds clinical wellbeing apps heavy and wants something quick: under 30 seconds a day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937760" y="1417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C4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937760" y="1828800"/>
            <a:ext cx="3566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 apps track what you do; mood apps track how you feel – rarely both in one place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can’t see whether a habit actually improves their mood, so motivation fades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answer: one tap to log both, then a “mood booster” insight comparing mood on days a habit was done vs. not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6C4CF1"/>
          </a:solidFill>
          <a:ln w="12700">
            <a:solidFill>
              <a:srgbClr val="6C4C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research &amp; gap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 apps (qualitative comparison – general public product knowledge)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2438400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C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Habit tracking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C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Mood logging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C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Habit ↔ mood insight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C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C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Daylio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E883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E883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Mood/activity journal; advanced stats paid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Streaks / Habitica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6B70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6B70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Streak-focused / gamified; no mood data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6B70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Gamified self-care pet; subscription features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6C4C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MoodStreak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Free, lightweight, cross-platform (Cordova)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749040"/>
            <a:ext cx="8229600" cy="1097280"/>
          </a:xfrm>
          <a:prstGeom prst="roundRect">
            <a:avLst>
              <a:gd name="adj" fmla="val 10000"/>
            </a:avLst>
          </a:prstGeom>
          <a:solidFill>
            <a:srgbClr val="F4F5FB"/>
          </a:solidFill>
          <a:ln w="12700">
            <a:solidFill>
              <a:srgbClr val="F4F5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640080" y="3767328"/>
            <a:ext cx="7863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Trends we are riding: </a:t>
            </a:r>
            <a:r>
              <a:rPr lang="en-US" sz="125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growing interest in mental-wellbeing and self-tracking, preference for simple privacy-respecting tools, and data-driven “quantified self” insights.
</a:t>
            </a:r>
            <a:r>
              <a:rPr lang="en-US" sz="1250" b="1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Monetisation potential: </a:t>
            </a:r>
            <a:r>
              <a:rPr lang="en-US" sz="125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core + optional premium (export, extra insights, themes).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6C4CF1"/>
          </a:solidFill>
          <a:ln w="12700">
            <a:solidFill>
              <a:srgbClr val="6C4C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High-level user requirements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from the user’s perspective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4023360" cy="1005840"/>
          </a:xfrm>
          <a:prstGeom prst="roundRect">
            <a:avLst>
              <a:gd name="adj" fmla="val 10909"/>
            </a:avLst>
          </a:prstGeom>
          <a:solidFill>
            <a:srgbClr val="F4F5FB"/>
          </a:solidFill>
          <a:ln w="12700">
            <a:solidFill>
              <a:srgbClr val="F4F5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13533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C4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64592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a user I can sign up, log in and log out so my data is private and available on my phone.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1280160"/>
            <a:ext cx="4023360" cy="1005840"/>
          </a:xfrm>
          <a:prstGeom prst="roundRect">
            <a:avLst>
              <a:gd name="adj" fmla="val 10909"/>
            </a:avLst>
          </a:prstGeom>
          <a:solidFill>
            <a:srgbClr val="F4F5FB"/>
          </a:solidFill>
          <a:ln w="12700">
            <a:solidFill>
              <a:srgbClr val="F4F5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846320" y="13533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C4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Mood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846320" y="164592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a user I can log how I feel today (1–5 + note), change it, or clear it.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423160"/>
            <a:ext cx="4023360" cy="1005840"/>
          </a:xfrm>
          <a:prstGeom prst="roundRect">
            <a:avLst>
              <a:gd name="adj" fmla="val 10909"/>
            </a:avLst>
          </a:prstGeom>
          <a:solidFill>
            <a:srgbClr val="F4F5FB"/>
          </a:solidFill>
          <a:ln w="12700">
            <a:solidFill>
              <a:srgbClr val="F4F5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40080" y="24963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C4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278892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a user I can add, rename, delete and tick off daily habits and see my streak.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663440" y="2423160"/>
            <a:ext cx="4023360" cy="1005840"/>
          </a:xfrm>
          <a:prstGeom prst="roundRect">
            <a:avLst>
              <a:gd name="adj" fmla="val 10909"/>
            </a:avLst>
          </a:prstGeom>
          <a:solidFill>
            <a:srgbClr val="F4F5FB"/>
          </a:solidFill>
          <a:ln w="12700">
            <a:solidFill>
              <a:srgbClr val="F4F5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846320" y="24963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C4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846320" y="278892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a user I can see my mood trend and which habits lift my mood.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566160"/>
            <a:ext cx="4023360" cy="1005840"/>
          </a:xfrm>
          <a:prstGeom prst="roundRect">
            <a:avLst>
              <a:gd name="adj" fmla="val 10909"/>
            </a:avLst>
          </a:prstGeom>
          <a:solidFill>
            <a:srgbClr val="F4F5FB"/>
          </a:solidFill>
          <a:ln w="12700">
            <a:solidFill>
              <a:srgbClr val="F4F5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40080" y="36393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C4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Reminders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393192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a user I can get a daily reminder so I don’t forget to check in.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663440" y="3566160"/>
            <a:ext cx="4023360" cy="1005840"/>
          </a:xfrm>
          <a:prstGeom prst="roundRect">
            <a:avLst>
              <a:gd name="adj" fmla="val 10909"/>
            </a:avLst>
          </a:prstGeom>
          <a:solidFill>
            <a:srgbClr val="F4F5FB"/>
          </a:solidFill>
          <a:ln w="12700">
            <a:solidFill>
              <a:srgbClr val="F4F5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846320" y="36393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C4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846320" y="393192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a user I expect a fast, easy, attractive app that tells me when I’m offline.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6C4CF1"/>
          </a:solidFill>
          <a:ln w="12700">
            <a:solidFill>
              <a:srgbClr val="6C4C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architecture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Three-tier hybrid app – every connection to the API is HTTPS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371600"/>
            <a:ext cx="2286000" cy="1554480"/>
          </a:xfrm>
          <a:prstGeom prst="roundRect">
            <a:avLst>
              <a:gd name="adj" fmla="val 5882"/>
            </a:avLst>
          </a:prstGeom>
          <a:solidFill>
            <a:srgbClr val="6C4CF1"/>
          </a:solidFill>
          <a:ln w="12700">
            <a:solidFill>
              <a:srgbClr val="6C4C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1371600"/>
            <a:ext cx="2286000" cy="15544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– Cordova hybrid app</a:t>
            </a:r>
            <a:endParaRPr lang="en-US" sz="140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jQuery Mobile · HTML5 · CSS · JS</a:t>
            </a:r>
            <a:endParaRPr lang="en-US" sz="140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Plugins: local-notification,</a:t>
            </a:r>
            <a:endParaRPr lang="en-US" sz="140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vibration, network-info, statusbar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566160" y="1371600"/>
            <a:ext cx="2377440" cy="1554480"/>
          </a:xfrm>
          <a:prstGeom prst="roundRect">
            <a:avLst>
              <a:gd name="adj" fmla="val 5882"/>
            </a:avLst>
          </a:prstGeom>
          <a:solidFill>
            <a:srgbClr val="3B2FA8"/>
          </a:solidFill>
          <a:ln w="12700">
            <a:solidFill>
              <a:srgbClr val="3B2F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566160" y="1371600"/>
            <a:ext cx="2377440" cy="15544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– Express on Render</a:t>
            </a:r>
            <a:endParaRPr lang="en-US" sz="140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· HTTPS · helmet · CORS</a:t>
            </a:r>
            <a:endParaRPr lang="en-US" sz="140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 middleware · validation</a:t>
            </a:r>
            <a:endParaRPr lang="en-US" sz="140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Routers: auth · habits · moods · stats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766560" y="1371600"/>
            <a:ext cx="2011680" cy="1554480"/>
          </a:xfrm>
          <a:prstGeom prst="roundRect">
            <a:avLst>
              <a:gd name="adj" fmla="val 5882"/>
            </a:avLst>
          </a:prstGeom>
          <a:solidFill>
            <a:srgbClr val="13AA52"/>
          </a:solidFill>
          <a:ln w="12700">
            <a:solidFill>
              <a:srgbClr val="13AA5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766560" y="1371600"/>
            <a:ext cx="2011680" cy="15544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– MongoDB Atlas</a:t>
            </a:r>
            <a:endParaRPr lang="en-US" sz="140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Mongoose models:</a:t>
            </a:r>
            <a:endParaRPr lang="en-US" sz="140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· Habit · Checkin</a:t>
            </a:r>
            <a:endParaRPr lang="en-US" sz="140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Mood · RevokedToken (TTL)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651760" y="2148840"/>
            <a:ext cx="914400" cy="0"/>
          </a:xfrm>
          <a:prstGeom prst="line">
            <a:avLst/>
          </a:prstGeom>
          <a:noFill/>
          <a:ln w="25400">
            <a:solidFill>
              <a:srgbClr val="1F2238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468880" y="158191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 + JSON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Bearer JWT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943600" y="2148840"/>
            <a:ext cx="822960" cy="0"/>
          </a:xfrm>
          <a:prstGeom prst="line">
            <a:avLst/>
          </a:prstGeom>
          <a:noFill/>
          <a:ln w="25400">
            <a:solidFill>
              <a:srgbClr val="1F2238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760720" y="1581912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 wire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(TLS)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760" y="3291840"/>
            <a:ext cx="8412480" cy="1417320"/>
          </a:xfrm>
          <a:prstGeom prst="roundRect">
            <a:avLst>
              <a:gd name="adj" fmla="val 7742"/>
            </a:avLst>
          </a:prstGeom>
          <a:solidFill>
            <a:srgbClr val="F4F5FB"/>
          </a:solidFill>
          <a:ln w="12700">
            <a:solidFill>
              <a:srgbClr val="F4F5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48640" y="3337560"/>
            <a:ext cx="8046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flow: </a:t>
            </a:r>
            <a:r>
              <a:rPr lang="en-US" sz="125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event → jQuery $.ajax → HTTPS → [requireHttps → helmet → CORS → JSON parser → JWT auth] → Router → Mongoose → Atlas → JSON response → UI update.
</a:t>
            </a:r>
            <a:r>
              <a:rPr lang="en-US" sz="1250" b="1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Hosting: </a:t>
            </a:r>
            <a:r>
              <a:rPr lang="en-US" sz="125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APK/IPA via Cordova · API on Render (TLS terminated by platform) · data on Atlas. Secrets live only in environment variables. Source on GitHub.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6C4CF1"/>
          </a:solidFill>
          <a:ln w="12700">
            <a:solidFill>
              <a:srgbClr val="6C4C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 – all four HTTP verbs in use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Organised with Express Routers, one file per resource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274320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C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Endpoint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C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Used for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C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/api/auth/signup · /login · /logout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 + session (logout revokes JWT)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D7F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/api/habits  ·  /api/moods  ·  /api/stats/summary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Load today, history, insights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/api/habits · /habits/:id/checkins · /api/moods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 habit, tick off, log mood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E883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/api/habits/:id  ·  /api/moods/:id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 habit, update mood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E548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DELETE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/api/habits/:id · /habits/:id/checkins/:date · /api/moods/:id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Delete habit, un-tick, clear mood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023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 chain: HTTPS-only → helmet → CORS allow-list → body limit (10 kb) → JWT authentication → express-validator → router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6C4CF1"/>
          </a:solidFill>
          <a:ln w="12700">
            <a:solidFill>
              <a:srgbClr val="6C4C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– main features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 captured from the running app</a:t>
            </a:r>
            <a:endParaRPr lang="en-US" sz="1400" dirty="0"/>
          </a:p>
        </p:txBody>
      </p:sp>
      <p:pic>
        <p:nvPicPr>
          <p:cNvPr id="5" name="Image 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13466" y="1188720"/>
            <a:ext cx="1496060" cy="32461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20040" y="44805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in</a:t>
            </a:r>
            <a:endParaRPr lang="en-US" sz="1200" dirty="0"/>
          </a:p>
        </p:txBody>
      </p:sp>
      <p:pic>
        <p:nvPicPr>
          <p:cNvPr id="7" name="Image 1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2077674" y="1188720"/>
            <a:ext cx="1496060" cy="32461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984248" y="44805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1200" dirty="0"/>
          </a:p>
        </p:txBody>
      </p:sp>
      <p:pic>
        <p:nvPicPr>
          <p:cNvPr id="9" name="Image 2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741882" y="1188720"/>
            <a:ext cx="1496060" cy="324612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3648456" y="44805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mood &amp; habits</a:t>
            </a:r>
            <a:endParaRPr lang="en-US" sz="1200" dirty="0"/>
          </a:p>
        </p:txBody>
      </p:sp>
      <p:pic>
        <p:nvPicPr>
          <p:cNvPr id="11" name="Image 3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5406090" y="1188720"/>
            <a:ext cx="1496060" cy="324612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5312664" y="44805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Insights</a:t>
            </a:r>
            <a:endParaRPr lang="en-US" sz="1200" dirty="0"/>
          </a:p>
        </p:txBody>
      </p:sp>
      <p:pic>
        <p:nvPicPr>
          <p:cNvPr id="13" name="Image 4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7070298" y="1188720"/>
            <a:ext cx="1496060" cy="3246120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6976872" y="44805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/ edit habit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6C4CF1"/>
          </a:solidFill>
          <a:ln w="12700">
            <a:solidFill>
              <a:srgbClr val="6C4C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results (preliminary)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API tests + scripted UI test run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3931920" cy="3383280"/>
          </a:xfrm>
          <a:prstGeom prst="roundRect">
            <a:avLst>
              <a:gd name="adj" fmla="val 3243"/>
            </a:avLst>
          </a:prstGeom>
          <a:solidFill>
            <a:srgbClr val="F4F5FB"/>
          </a:solidFill>
          <a:ln w="12700">
            <a:solidFill>
              <a:srgbClr val="F4F5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137160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23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640080" y="205740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API tests passing (Node test runner + supertest)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2560320"/>
            <a:ext cx="3566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Auth: signup, duplicate email, validation, login, logout/revocation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Habits &amp; moods: full create/read/update/delete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Streak + mood-lift calculations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control: user B cannot read/edit user A’s data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 allow/deny, headers, malformed JSON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54880" y="1280160"/>
            <a:ext cx="3931920" cy="3383280"/>
          </a:xfrm>
          <a:prstGeom prst="roundRect">
            <a:avLst>
              <a:gd name="adj" fmla="val 3243"/>
            </a:avLst>
          </a:prstGeom>
          <a:solidFill>
            <a:srgbClr val="F4F5FB"/>
          </a:solidFill>
          <a:ln w="12700">
            <a:solidFill>
              <a:srgbClr val="F4F5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937760" y="13716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C4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UI run (mobile viewport, HTTPS API)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37760" y="1783080"/>
            <a:ext cx="35661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</a:t>
            </a:r>
            <a:r>
              <a:rPr lang="en-US" sz="12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password shows error</a:t>
            </a:r>
            <a:endParaRPr lang="en-US" sz="12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</a:t>
            </a:r>
            <a:r>
              <a:rPr lang="en-US" sz="12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→ Today screen</a:t>
            </a:r>
            <a:endParaRPr lang="en-US" sz="12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</a:t>
            </a:r>
            <a:r>
              <a:rPr lang="en-US" sz="12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/ update mood</a:t>
            </a:r>
            <a:endParaRPr lang="en-US" sz="12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</a:t>
            </a:r>
            <a:r>
              <a:rPr lang="en-US" sz="12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 habit → streak updates</a:t>
            </a:r>
            <a:endParaRPr lang="en-US" sz="12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</a:t>
            </a:r>
            <a:r>
              <a:rPr lang="en-US" sz="12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Add, edit (PUT) and delete habit</a:t>
            </a:r>
            <a:endParaRPr lang="en-US" sz="12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</a:t>
            </a:r>
            <a:r>
              <a:rPr lang="en-US" sz="12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Insights chart + streaks render</a:t>
            </a:r>
            <a:endParaRPr lang="en-US" sz="12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</a:t>
            </a:r>
            <a:r>
              <a:rPr lang="en-US" sz="12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Logout clears session</a:t>
            </a:r>
            <a:endParaRPr lang="en-US" sz="12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</a:t>
            </a:r>
            <a:r>
              <a:rPr lang="en-US" sz="12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link to #insights while logged out → login</a:t>
            </a:r>
            <a:endParaRPr lang="en-US" sz="12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</a:t>
            </a:r>
            <a:r>
              <a:rPr lang="en-US" sz="12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in habit name shown as text (no XSS)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6C4CF1"/>
          </a:solidFill>
          <a:ln w="12700">
            <a:solidFill>
              <a:srgbClr val="6C4C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Vulnerability analysis (preliminary)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audit + manual probing of the HTTPS API – reported, not yet fixed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3429000"/>
        </p:xfrm>
        <a:graphic>
          <a:graphicData uri="http://schemas.openxmlformats.org/drawingml/2006/table">
            <a:tbl>
              <a:tblPr/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C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C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C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Dependencies (npm audit)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known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known vulnerable packages at scan time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/ forged / alg=none JWT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401 for all protected routes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NoSQL injection ({"$ne":null})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 via type validation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CORS from unknown origin · plain HTTP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CORS headers; HTTP refused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Brute-force login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Mitigated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429 after 30 attempts / 15 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 enumeration at signup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E883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409 reveals that an email is registered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password complexity / lockout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E883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length ≥ 8 enforced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JWT in localStorage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E548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Exposed if any XSS appears; no refresh tokens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 CSP uses unsafe-inline/eval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E883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Needed by jQuery Mobile; weakens XSS defence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45B00A5-A8B4-8C77-23CC-7ECCBB8BC6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6445B26-61BA-0B57-B1BD-C2C41DF4D486}"/>
              </a:ext>
            </a:extLst>
          </p:cNvPr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6C4CF1"/>
          </a:solidFill>
          <a:ln w="12700">
            <a:solidFill>
              <a:srgbClr val="6C4C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957A13A-3CB0-08ED-5739-52C637C5F68D}"/>
              </a:ext>
            </a:extLst>
          </p:cNvPr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Vulnerability analysis (preliminary)</a:t>
            </a:r>
            <a:endParaRPr lang="en-US" sz="28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5A54336-C664-0EA7-6B03-2863FC067D13}"/>
              </a:ext>
            </a:extLst>
          </p:cNvPr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audit + manual probing of the HTTPS API – reported, not yet fixed</a:t>
            </a:r>
            <a:endParaRPr lang="en-US" sz="1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2688E01-C643-8EC8-BF68-9086975124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1" y="1268842"/>
            <a:ext cx="4922176" cy="272603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2A4BEB1-A248-9A3C-A9CB-D04A1A9436CB}"/>
              </a:ext>
            </a:extLst>
          </p:cNvPr>
          <p:cNvSpPr txBox="1"/>
          <p:nvPr/>
        </p:nvSpPr>
        <p:spPr>
          <a:xfrm>
            <a:off x="5543870" y="2156251"/>
            <a:ext cx="314292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0 vulnerabilities in production dependencies; the 3 high findings are dev tooling only.</a:t>
            </a:r>
          </a:p>
        </p:txBody>
      </p:sp>
    </p:spTree>
    <p:extLst>
      <p:ext uri="{BB962C8B-B14F-4D97-AF65-F5344CB8AC3E}">
        <p14:creationId xmlns:p14="http://schemas.microsoft.com/office/powerpoint/2010/main" val="17614005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14DA95-04A2-7552-54A0-1B4B62D8B9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1B55D49-3F87-D6B4-1363-1FD5BC867C71}"/>
              </a:ext>
            </a:extLst>
          </p:cNvPr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6C4CF1"/>
          </a:solidFill>
          <a:ln w="12700">
            <a:solidFill>
              <a:srgbClr val="6C4C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CA4A122-AAFE-4AC8-4DAE-84AABABB032C}"/>
              </a:ext>
            </a:extLst>
          </p:cNvPr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Vulnerability analysis (preliminary)</a:t>
            </a:r>
            <a:endParaRPr lang="en-US" sz="28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040B24EE-68DF-DD0B-41BD-EAEC4DCF351A}"/>
              </a:ext>
            </a:extLst>
          </p:cNvPr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audit + manual probing of the HTTPS API – reported, not yet fixed</a:t>
            </a:r>
            <a:endParaRPr lang="en-US" sz="1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A5452FF-4031-1BB8-69BC-891B4DF41B74}"/>
              </a:ext>
            </a:extLst>
          </p:cNvPr>
          <p:cNvSpPr txBox="1"/>
          <p:nvPr/>
        </p:nvSpPr>
        <p:spPr>
          <a:xfrm>
            <a:off x="3000533" y="4603663"/>
            <a:ext cx="314292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/>
              <a:t>Snyk</a:t>
            </a:r>
            <a:r>
              <a:rPr lang="en-US" sz="1600" dirty="0"/>
              <a:t> Report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D1C1B51-A728-9620-9096-577F46C5C1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9588" y="1207870"/>
            <a:ext cx="4084820" cy="3357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47578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6C4CF1"/>
          </a:solidFill>
          <a:ln w="12700">
            <a:solidFill>
              <a:srgbClr val="6C4C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&amp; next steps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3931920" cy="3474720"/>
          </a:xfrm>
          <a:prstGeom prst="roundRect">
            <a:avLst>
              <a:gd name="adj" fmla="val 3158"/>
            </a:avLst>
          </a:prstGeom>
          <a:solidFill>
            <a:srgbClr val="F4F5FB"/>
          </a:solidFill>
          <a:ln w="12700">
            <a:solidFill>
              <a:srgbClr val="F4F5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754880" y="1097280"/>
            <a:ext cx="3931920" cy="3474720"/>
          </a:xfrm>
          <a:prstGeom prst="roundRect">
            <a:avLst>
              <a:gd name="adj" fmla="val 3158"/>
            </a:avLst>
          </a:prstGeom>
          <a:solidFill>
            <a:srgbClr val="F4F5FB"/>
          </a:solidFill>
          <a:ln w="12700">
            <a:solidFill>
              <a:srgbClr val="F4F5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11887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C4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limitations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1645920"/>
            <a:ext cx="3566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only – no offline sync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Render instance sleeps (cold start)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Streaks use the device’s local date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Vulnerabilities above are not yet fixed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937760" y="11887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C4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937760" y="1645920"/>
            <a:ext cx="3566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token to secure storage; add refresh tokens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queue + sync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summary notifications; data export (premium)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Biometric app lock (Cordova plugin)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</TotalTime>
  <Words>1171</Words>
  <Application>Microsoft Macintosh PowerPoint</Application>
  <PresentationFormat>On-screen Show (16:9)</PresentationFormat>
  <Paragraphs>183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MoodStreak</dc:title>
  <dc:subject>PptxGenJS Presentation</dc:subject>
  <dc:creator>PptxGenJS</dc:creator>
  <cp:lastModifiedBy>Dasun Priyankara ALAGIYA DURAGE</cp:lastModifiedBy>
  <cp:revision>4</cp:revision>
  <dcterms:created xsi:type="dcterms:W3CDTF">2026-10-13T03:48:14Z</dcterms:created>
  <dcterms:modified xsi:type="dcterms:W3CDTF">2026-10-16T22:44:10Z</dcterms:modified>
</cp:coreProperties>
</file>